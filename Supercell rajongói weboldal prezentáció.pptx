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yfWPdXzPz5SRzNYc+w64xFpkJ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Kódmegoszlás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8B-474D-BF63-E41D0FE9EB8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8B-474D-BF63-E41D0FE9EB8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8B-474D-BF63-E41D0FE9EB8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38B-474D-BF63-E41D0FE9EB8E}"/>
              </c:ext>
            </c:extLst>
          </c:dPt>
          <c:cat>
            <c:strRef>
              <c:f>Munka1!$A$2:$A$5</c:f>
              <c:strCache>
                <c:ptCount val="3"/>
                <c:pt idx="0">
                  <c:v>HTML</c:v>
                </c:pt>
                <c:pt idx="1">
                  <c:v>CSS/ Bootstrap</c:v>
                </c:pt>
                <c:pt idx="2">
                  <c:v>Javascript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78</c:v>
                </c:pt>
                <c:pt idx="1">
                  <c:v>11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97-4A30-B17B-CB4E71E82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.25157148380960564"/>
          <c:y val="0.91451719777647322"/>
          <c:w val="0.46110883127234265"/>
          <c:h val="6.86466062581598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55171230e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55171230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55171230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Kép forrása: Microsoft 365 tartalomtár</a:t>
            </a:r>
            <a:br>
              <a:rPr lang="en-GB"/>
            </a:br>
            <a:r>
              <a:rPr lang="en-GB"/>
              <a:t>Nagyon hálásak vagyunk, hogy végigkövette előadásunkat. Reméljük, hasznos és érdekes információkat kaptak. Kérdéseiket szívesen fogadjuk, és további visszajelzéseiket is örömmel várjuk. Köszönjük a bizalmat és az együttműködést!</a:t>
            </a:r>
            <a:endParaRPr/>
          </a:p>
        </p:txBody>
      </p:sp>
      <p:sp>
        <p:nvSpPr>
          <p:cNvPr id="202" name="Google Shape;2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" name="Google Shape;24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GB">
                <a:solidFill>
                  <a:srgbClr val="FFFFFF"/>
                </a:solidFill>
              </a:rPr>
              <a:t>Supercell Rajongói Weboldal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>
            <p:ph idx="1" type="body"/>
          </p:nvPr>
        </p:nvSpPr>
        <p:spPr>
          <a:xfrm>
            <a:off x="3335481" y="591344"/>
            <a:ext cx="5179868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Készítette: Kéki Mihály, Bogárdi Bence, Koter Kristóf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Osztály: 9.A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476250" y="640823"/>
            <a:ext cx="2563994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Az oldal rövid bemutatása</a:t>
            </a:r>
            <a:endParaRPr b="1" sz="3600"/>
          </a:p>
        </p:txBody>
      </p:sp>
      <p:sp>
        <p:nvSpPr>
          <p:cNvPr id="99" name="Google Shape;99;p2"/>
          <p:cNvSpPr/>
          <p:nvPr/>
        </p:nvSpPr>
        <p:spPr>
          <a:xfrm rot="5400000">
            <a:off x="544313" y="3465005"/>
            <a:ext cx="5410200" cy="13716"/>
          </a:xfrm>
          <a:custGeom>
            <a:rect b="b" l="l" r="r" t="t"/>
            <a:pathLst>
              <a:path extrusionOk="0" fill="none" h="13716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extrusionOk="0" h="13716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3486013" y="640852"/>
            <a:ext cx="5175384" cy="5536080"/>
            <a:chOff x="0" y="30"/>
            <a:chExt cx="5175384" cy="5536080"/>
          </a:xfrm>
        </p:grpSpPr>
        <p:sp>
          <p:nvSpPr>
            <p:cNvPr id="101" name="Google Shape;101;p2"/>
            <p:cNvSpPr/>
            <p:nvPr/>
          </p:nvSpPr>
          <p:spPr>
            <a:xfrm>
              <a:off x="0" y="30"/>
              <a:ext cx="5175384" cy="131274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64083" y="64113"/>
              <a:ext cx="5047218" cy="1184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GB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Rajongói oldal a Supercellről</a:t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0" y="1407810"/>
              <a:ext cx="5175384" cy="1312740"/>
            </a:xfrm>
            <a:prstGeom prst="roundRect">
              <a:avLst>
                <a:gd fmla="val 16667" name="adj"/>
              </a:avLst>
            </a:prstGeom>
            <a:solidFill>
              <a:srgbClr val="BC82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64083" y="1471893"/>
              <a:ext cx="5047218" cy="1184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GB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Statikus weboldal</a:t>
              </a:r>
              <a:endParaRPr b="0" i="0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2815590"/>
              <a:ext cx="5175384" cy="1312740"/>
            </a:xfrm>
            <a:prstGeom prst="roundRect">
              <a:avLst>
                <a:gd fmla="val 16667" name="adj"/>
              </a:avLst>
            </a:prstGeom>
            <a:solidFill>
              <a:srgbClr val="BBB05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64083" y="2879673"/>
              <a:ext cx="5047218" cy="1184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GB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Játékok bemutatása</a:t>
              </a:r>
              <a:endParaRPr b="0" i="0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0" y="4223370"/>
              <a:ext cx="5175384" cy="1312740"/>
            </a:xfrm>
            <a:prstGeom prst="roundRect">
              <a:avLst>
                <a:gd fmla="val 16667" name="adj"/>
              </a:avLst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64083" y="4287453"/>
              <a:ext cx="5047218" cy="1184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GB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Interaktív kvíz</a:t>
              </a:r>
              <a:endParaRPr b="0" i="0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914171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533400" y="557189"/>
            <a:ext cx="2625852" cy="5567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GB" sz="3500"/>
              <a:t>Felhasznált technológiák</a:t>
            </a:r>
            <a:endParaRPr b="1" sz="3500"/>
          </a:p>
        </p:txBody>
      </p:sp>
      <p:grpSp>
        <p:nvGrpSpPr>
          <p:cNvPr id="115" name="Google Shape;115;p3"/>
          <p:cNvGrpSpPr/>
          <p:nvPr/>
        </p:nvGrpSpPr>
        <p:grpSpPr>
          <a:xfrm>
            <a:off x="3819906" y="688575"/>
            <a:ext cx="4697730" cy="5368321"/>
            <a:chOff x="0" y="68183"/>
            <a:chExt cx="4697730" cy="5368321"/>
          </a:xfrm>
        </p:grpSpPr>
        <p:sp>
          <p:nvSpPr>
            <p:cNvPr id="116" name="Google Shape;116;p3"/>
            <p:cNvSpPr/>
            <p:nvPr/>
          </p:nvSpPr>
          <p:spPr>
            <a:xfrm>
              <a:off x="0" y="68183"/>
              <a:ext cx="4697730" cy="127296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62141" y="130324"/>
              <a:ext cx="4573448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GB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HTML – az oldal szerkezete</a:t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0" y="1433303"/>
              <a:ext cx="4697730" cy="127296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62141" y="1495444"/>
              <a:ext cx="4573448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GB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CSS – kinézet és formázás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0" y="2798423"/>
              <a:ext cx="4697730" cy="127296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62141" y="2860564"/>
              <a:ext cx="4573448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GB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Bootstrap – reszponzív rács és navbar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0" y="4163544"/>
              <a:ext cx="4697730" cy="1272960"/>
            </a:xfrm>
            <a:prstGeom prst="roundRect">
              <a:avLst>
                <a:gd fmla="val 16667" name="adj"/>
              </a:avLst>
            </a:prstGeom>
            <a:solidFill>
              <a:srgbClr val="49ACC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62141" y="4225685"/>
              <a:ext cx="4573448" cy="11486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0" i="0" lang="en-GB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JavaScript – kvíz logika és interaktivitás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/>
              <a:t>Bootstrap használata</a:t>
            </a:r>
            <a:endParaRPr b="1"/>
          </a:p>
        </p:txBody>
      </p:sp>
      <p:grpSp>
        <p:nvGrpSpPr>
          <p:cNvPr id="129" name="Google Shape;129;p4"/>
          <p:cNvGrpSpPr/>
          <p:nvPr/>
        </p:nvGrpSpPr>
        <p:grpSpPr>
          <a:xfrm>
            <a:off x="457200" y="2294481"/>
            <a:ext cx="8229600" cy="3137399"/>
            <a:chOff x="0" y="694281"/>
            <a:chExt cx="8229600" cy="3137399"/>
          </a:xfrm>
        </p:grpSpPr>
        <p:sp>
          <p:nvSpPr>
            <p:cNvPr id="130" name="Google Shape;130;p4"/>
            <p:cNvSpPr/>
            <p:nvPr/>
          </p:nvSpPr>
          <p:spPr>
            <a:xfrm>
              <a:off x="0" y="694281"/>
              <a:ext cx="8229600" cy="719549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5125" y="729406"/>
              <a:ext cx="8159350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GB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Navigációs sáv Bootstrap osztályokkal</a:t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0" y="1500231"/>
              <a:ext cx="8229600" cy="719549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35125" y="1535356"/>
              <a:ext cx="8159350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GB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Rácsrendszer (container, row, col) az elrendezéshez</a:t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0" y="2306181"/>
              <a:ext cx="8229600" cy="719549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35125" y="2341306"/>
              <a:ext cx="8159350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GB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Reszponzív működés mobilon és gépen</a:t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0" y="3112131"/>
              <a:ext cx="8229600" cy="719549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35125" y="3147256"/>
              <a:ext cx="8159350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GB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Előre kész stílusok gyors fejlesztéshez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>
            <p:ph type="title"/>
          </p:nvPr>
        </p:nvSpPr>
        <p:spPr>
          <a:xfrm>
            <a:off x="308610" y="991443"/>
            <a:ext cx="3332365" cy="1087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GB" sz="3000"/>
              <a:t>Az oldal felépítése</a:t>
            </a:r>
            <a:endParaRPr b="1" sz="3000"/>
          </a:p>
        </p:txBody>
      </p:sp>
      <p:sp>
        <p:nvSpPr>
          <p:cNvPr id="144" name="Google Shape;144;p8"/>
          <p:cNvSpPr/>
          <p:nvPr/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308610" y="2684095"/>
            <a:ext cx="3332365" cy="3492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/>
              <a:t>index.html – főoldal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/>
              <a:t>jatekok.html – játékok bemutatása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/>
              <a:t>quiz.html – interaktív kvíz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/>
              <a:t>rolunk.html – készítők</a:t>
            </a:r>
            <a:endParaRPr/>
          </a:p>
        </p:txBody>
      </p:sp>
      <p:pic>
        <p:nvPicPr>
          <p:cNvPr descr="A képen szöveg, képernyőkép látható&#10;&#10;Előfordulhat, hogy az AI által létrehozott tartalom helytelen.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9362" y="1970341"/>
            <a:ext cx="4830318" cy="286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914171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>
            <p:ph type="title"/>
          </p:nvPr>
        </p:nvSpPr>
        <p:spPr>
          <a:xfrm>
            <a:off x="630936" y="539578"/>
            <a:ext cx="4485959" cy="168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GB" sz="3500"/>
              <a:t>Navigációs sáv bemutatása</a:t>
            </a:r>
            <a:endParaRPr b="1" sz="3500"/>
          </a:p>
        </p:txBody>
      </p:sp>
      <p:sp>
        <p:nvSpPr>
          <p:cNvPr id="154" name="Google Shape;154;p5"/>
          <p:cNvSpPr txBox="1"/>
          <p:nvPr>
            <p:ph idx="1" type="body"/>
          </p:nvPr>
        </p:nvSpPr>
        <p:spPr>
          <a:xfrm>
            <a:off x="323417" y="2402213"/>
            <a:ext cx="4485959" cy="369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A navigációs sávot Bootstrap segítségével készítettük el.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Reszponzív, tehát mobilon hamburger menüvé alakul át.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Sticky-top beállítást használtunk, így görgetéskor a képernyő tetején marad.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A menüpontok külön oldalakra és szekciókra navigálnak, ezzel javítva a felhasználói élményt.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A logóra kattintva vissza navigál a főoldalra</a:t>
            </a:r>
            <a:endParaRPr sz="2000"/>
          </a:p>
        </p:txBody>
      </p:sp>
      <p:pic>
        <p:nvPicPr>
          <p:cNvPr descr="A képen szöveg, Betűtípus, képernyőkép, Grafika látható&#10;&#10;Előfordulhat, hogy az AI által létrehozott tartalom helytelen."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7613" y="1127062"/>
            <a:ext cx="3764670" cy="687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képen szöveg, képernyőkép, menü látható&#10;&#10;Előfordulhat, hogy az AI által létrehozott tartalom helytelen."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6896" y="2551686"/>
            <a:ext cx="3725388" cy="35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-4233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>
            <p:ph type="title"/>
          </p:nvPr>
        </p:nvSpPr>
        <p:spPr>
          <a:xfrm>
            <a:off x="441756" y="502400"/>
            <a:ext cx="2525379" cy="1818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GB" sz="2400"/>
              <a:t>Kvíz bemutatása</a:t>
            </a:r>
            <a:endParaRPr b="1" sz="2400"/>
          </a:p>
        </p:txBody>
      </p:sp>
      <p:pic>
        <p:nvPicPr>
          <p:cNvPr descr="A képen szöveg, képernyőkép, szoftver, Multimédiás szoftver látható&#10;&#10;Előfordulhat, hogy az AI által létrehozott tartalom helytelen." id="163" name="Google Shape;163;p6"/>
          <p:cNvPicPr preferRelativeResize="0"/>
          <p:nvPr/>
        </p:nvPicPr>
        <p:blipFill rotWithShape="1">
          <a:blip r:embed="rId3">
            <a:alphaModFix/>
          </a:blip>
          <a:srcRect b="-2" l="0" r="30547" t="0"/>
          <a:stretch/>
        </p:blipFill>
        <p:spPr>
          <a:xfrm>
            <a:off x="3416427" y="6"/>
            <a:ext cx="5727572" cy="276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0" y="2762729"/>
            <a:ext cx="9144000" cy="64008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képen szöveg, képernyőkép, Betűtípus, menü látható&#10;&#10;Előfordulhat, hogy az AI által létrehozott tartalom helytelen." id="165" name="Google Shape;165;p6"/>
          <p:cNvPicPr preferRelativeResize="0"/>
          <p:nvPr/>
        </p:nvPicPr>
        <p:blipFill rotWithShape="1">
          <a:blip r:embed="rId4">
            <a:alphaModFix/>
          </a:blip>
          <a:srcRect b="2" l="1923" r="19717" t="0"/>
          <a:stretch/>
        </p:blipFill>
        <p:spPr>
          <a:xfrm>
            <a:off x="20" y="2826737"/>
            <a:ext cx="3424313" cy="4031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3651177" y="2826737"/>
            <a:ext cx="5383965" cy="3933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A kvízt JavaScript segítségével készítettük el.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A kérdéseket egy objektumokat tartalmazó tömbben tároljuk, majd dinamikusan jelenítjük meg az oldalon.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A program ellenőrzi a kiválasztott választ, számolja a pontszámot, és a végén kiírja az eredményt.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/>
              <a:t>A hibás válaszokat külön megjelenítjük, így a felhasználó visszajelzést kap a teljesítményéről.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 rot="5400000">
            <a:off x="11429" y="3404996"/>
            <a:ext cx="6858002" cy="48006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55171230e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Játékok bemutatása</a:t>
            </a:r>
            <a:endParaRPr/>
          </a:p>
        </p:txBody>
      </p:sp>
      <p:sp>
        <p:nvSpPr>
          <p:cNvPr id="174" name="Google Shape;174;g3955171230e_0_0"/>
          <p:cNvSpPr txBox="1"/>
          <p:nvPr>
            <p:ph idx="1" type="body"/>
          </p:nvPr>
        </p:nvSpPr>
        <p:spPr>
          <a:xfrm>
            <a:off x="457200" y="1600200"/>
            <a:ext cx="33462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bootstrap használatával készült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a “kártyák” egy container classban vannak, ⅓-os elosztással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a kártyák közepes méretű képernyőn soronként hármasával vannak, ezek képernyőméret változáskor a képernyővel együtt mozognak</a:t>
            </a:r>
            <a:endParaRPr sz="2000"/>
          </a:p>
        </p:txBody>
      </p:sp>
      <p:pic>
        <p:nvPicPr>
          <p:cNvPr id="175" name="Google Shape;175;g3955171230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075" y="1417650"/>
            <a:ext cx="4764475" cy="268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955171230e_0_0"/>
          <p:cNvPicPr preferRelativeResize="0"/>
          <p:nvPr/>
        </p:nvPicPr>
        <p:blipFill rotWithShape="1">
          <a:blip r:embed="rId4">
            <a:alphaModFix/>
          </a:blip>
          <a:srcRect b="-3680" l="0" r="0" t="3680"/>
          <a:stretch/>
        </p:blipFill>
        <p:spPr>
          <a:xfrm>
            <a:off x="4074061" y="4097675"/>
            <a:ext cx="4764490" cy="26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📊</a:t>
            </a:r>
            <a:r>
              <a:rPr b="1" lang="en-GB"/>
              <a:t> Kódmegoszlás</a:t>
            </a:r>
            <a:endParaRPr b="1"/>
          </a:p>
        </p:txBody>
      </p:sp>
      <p:sp>
        <p:nvSpPr>
          <p:cNvPr id="182" name="Google Shape;18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HTML: 78%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CSS / Bootstrap: 11%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GB"/>
              <a:t>Javascript: 11%</a:t>
            </a:r>
            <a:endParaRPr/>
          </a:p>
        </p:txBody>
      </p:sp>
      <p:graphicFrame>
        <p:nvGraphicFramePr>
          <p:cNvPr id="183" name="Google Shape;183;p7"/>
          <p:cNvGraphicFramePr/>
          <p:nvPr/>
        </p:nvGraphicFramePr>
        <p:xfrm>
          <a:off x="3077591" y="1782762"/>
          <a:ext cx="6749990" cy="4525963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914171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>
            <p:ph type="title"/>
          </p:nvPr>
        </p:nvSpPr>
        <p:spPr>
          <a:xfrm>
            <a:off x="628650" y="557188"/>
            <a:ext cx="7886700" cy="1133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en-GB" sz="4500"/>
              <a:t>Összegzés</a:t>
            </a: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>
            <a:off x="628650" y="2174922"/>
            <a:ext cx="7886700" cy="3660298"/>
            <a:chOff x="0" y="346122"/>
            <a:chExt cx="7886700" cy="3660298"/>
          </a:xfrm>
        </p:grpSpPr>
        <p:sp>
          <p:nvSpPr>
            <p:cNvPr id="191" name="Google Shape;191;p9"/>
            <p:cNvSpPr/>
            <p:nvPr/>
          </p:nvSpPr>
          <p:spPr>
            <a:xfrm>
              <a:off x="0" y="346122"/>
              <a:ext cx="7886700" cy="839474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40980" y="387102"/>
              <a:ext cx="7804740" cy="757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350" lIns="133350" spcFirstLastPara="1" rIns="133350" wrap="square" tIns="133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Calibri"/>
                <a:buNone/>
              </a:pPr>
              <a:r>
                <a:rPr b="0" i="0" lang="en-GB" sz="3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Az oldal főként HTML alapú</a:t>
              </a:r>
              <a:endParaRPr b="0" i="0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0" y="1286397"/>
              <a:ext cx="7886700" cy="839474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 txBox="1"/>
            <p:nvPr/>
          </p:nvSpPr>
          <p:spPr>
            <a:xfrm>
              <a:off x="40980" y="1327377"/>
              <a:ext cx="7804740" cy="757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350" lIns="133350" spcFirstLastPara="1" rIns="133350" wrap="square" tIns="133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Calibri"/>
                <a:buNone/>
              </a:pPr>
              <a:r>
                <a:rPr b="0" i="0" lang="en-GB" sz="3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Bootstrap segít a modern megjelenésben</a:t>
              </a:r>
              <a:endParaRPr b="0" i="0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0" y="2226672"/>
              <a:ext cx="7886700" cy="839474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40980" y="2267652"/>
              <a:ext cx="7804740" cy="757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350" lIns="133350" spcFirstLastPara="1" rIns="133350" wrap="square" tIns="133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Calibri"/>
                <a:buNone/>
              </a:pPr>
              <a:r>
                <a:rPr b="0" i="0" lang="en-GB" sz="3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JavaScript biztosítja az interaktivitást</a:t>
              </a:r>
              <a:endParaRPr b="0" i="0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0" y="3166946"/>
              <a:ext cx="7886700" cy="839474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 txBox="1"/>
            <p:nvPr/>
          </p:nvSpPr>
          <p:spPr>
            <a:xfrm>
              <a:off x="40980" y="3207926"/>
              <a:ext cx="7804740" cy="757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350" lIns="133350" spcFirstLastPara="1" rIns="133350" wrap="square" tIns="133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Calibri"/>
                <a:buNone/>
              </a:pPr>
              <a:r>
                <a:rPr b="0" i="0" lang="en-GB" sz="3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Átlátható és felhasználóbarát struktúra</a:t>
              </a:r>
              <a:endParaRPr b="0" i="0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835818" y="0"/>
            <a:ext cx="7472363" cy="6858000"/>
          </a:xfrm>
          <a:custGeom>
            <a:rect b="b" l="l" r="r" t="t"/>
            <a:pathLst>
              <a:path extrusionOk="0" h="6858000" w="996315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sx="102000" rotWithShape="0" algn="ctr" sy="102000">
              <a:srgbClr val="D8D8D8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41248" y="0"/>
            <a:ext cx="7461504" cy="6858000"/>
          </a:xfrm>
          <a:custGeom>
            <a:rect b="b" l="l" r="r" t="t"/>
            <a:pathLst>
              <a:path extrusionOk="0" h="6858000" w="996315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 txBox="1"/>
          <p:nvPr>
            <p:ph type="title"/>
          </p:nvPr>
        </p:nvSpPr>
        <p:spPr>
          <a:xfrm>
            <a:off x="1143002" y="1999615"/>
            <a:ext cx="6858000" cy="2764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0"/>
              <a:buFont typeface="Calibri"/>
              <a:buNone/>
            </a:pPr>
            <a:r>
              <a:rPr b="1" lang="en-GB" sz="6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Köszönjük a figyelmet!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Koter Kristóf</dc:creator>
</cp:coreProperties>
</file>